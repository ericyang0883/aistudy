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1463040"/>
            <a:ext cx="10789920" cy="914400"/>
          </a:xfrm>
          <a:prstGeom prst="rect">
            <a:avLst/>
          </a:prstGeom>
          <a:noFill/>
        </p:spPr>
        <p:txBody>
          <a:bodyPr wrap="none">
            <a:spAutoFit/>
          </a:bodyPr>
          <a:lstStyle/>
          <a:p>
            <a:r>
              <a:rPr sz="3400" b="1">
                <a:solidFill>
                  <a:srgbClr val="193750"/>
                </a:solidFill>
                <a:latin typeface="Microsoft YaHei"/>
              </a:rPr>
              <a:t>封面</a:t>
            </a:r>
          </a:p>
        </p:txBody>
      </p:sp>
      <p:sp>
        <p:nvSpPr>
          <p:cNvPr id="3" name="TextBox 2"/>
          <p:cNvSpPr txBox="1"/>
          <p:nvPr/>
        </p:nvSpPr>
        <p:spPr>
          <a:xfrm>
            <a:off x="822960" y="2514600"/>
            <a:ext cx="10515600" cy="548640"/>
          </a:xfrm>
          <a:prstGeom prst="rect">
            <a:avLst/>
          </a:prstGeom>
          <a:noFill/>
        </p:spPr>
        <p:txBody>
          <a:bodyPr wrap="none">
            <a:spAutoFit/>
          </a:bodyPr>
          <a:lstStyle/>
          <a:p>
            <a:r>
              <a:rPr sz="2000" b="0">
                <a:solidFill>
                  <a:srgbClr val="505050"/>
                </a:solidFill>
                <a:latin typeface="Microsoft YaHei"/>
              </a:rPr>
              <a:t>天空之山·坎卦智慧广场</a:t>
            </a:r>
          </a:p>
        </p:txBody>
      </p:sp>
      <p:sp>
        <p:nvSpPr>
          <p:cNvPr id="4" name="TextBox 3"/>
          <p:cNvSpPr txBox="1"/>
          <p:nvPr/>
        </p:nvSpPr>
        <p:spPr>
          <a:xfrm>
            <a:off x="1097280" y="3383280"/>
            <a:ext cx="9601200" cy="1645920"/>
          </a:xfrm>
          <a:prstGeom prst="rect">
            <a:avLst/>
          </a:prstGeom>
          <a:noFill/>
        </p:spPr>
        <p:txBody>
          <a:bodyPr wrap="square">
            <a:spAutoFit/>
          </a:bodyPr>
          <a:lstStyle/>
          <a:p>
            <a:pPr>
              <a:defRPr sz="1800">
                <a:solidFill>
                  <a:srgbClr val="323232"/>
                </a:solidFill>
                <a:latin typeface="Microsoft YaHei"/>
              </a:defRPr>
            </a:pPr>
            <a:r>
              <a:t>海口天空之山坎卦非标商业区策划方案</a:t>
            </a:r>
          </a:p>
          <a:p>
            <a:pPr>
              <a:defRPr sz="1800">
                <a:solidFill>
                  <a:srgbClr val="323232"/>
                </a:solidFill>
                <a:latin typeface="Microsoft YaHei"/>
              </a:defRPr>
            </a:pPr>
            <a:r>
              <a:t>以坎卦精神构建城市级文旅商业入口</a:t>
            </a:r>
          </a:p>
          <a:p>
            <a:pPr>
              <a:defRPr sz="1800">
                <a:solidFill>
                  <a:srgbClr val="323232"/>
                </a:solidFill>
                <a:latin typeface="Microsoft YaHei"/>
              </a:defRPr>
            </a:pPr>
            <a:r>
              <a:t>以 AI 问卦系统承接易博园全岛导流</a:t>
            </a:r>
          </a:p>
        </p:txBody>
      </p:sp>
      <p:sp>
        <p:nvSpPr>
          <p:cNvPr id="5" name="TextBox 4"/>
          <p:cNvSpPr txBox="1"/>
          <p:nvPr/>
        </p:nvSpPr>
        <p:spPr>
          <a:xfrm>
            <a:off x="822960" y="6172200"/>
            <a:ext cx="2743200" cy="274320"/>
          </a:xfrm>
          <a:prstGeom prst="rect">
            <a:avLst/>
          </a:prstGeom>
          <a:noFill/>
        </p:spPr>
        <p:txBody>
          <a:bodyPr wrap="none">
            <a:spAutoFit/>
          </a:bodyPr>
          <a:lstStyle/>
          <a:p>
            <a:r>
              <a:rPr sz="1100" b="0">
                <a:solidFill>
                  <a:srgbClr val="828282"/>
                </a:solidFill>
                <a:latin typeface="Microsoft YaHei"/>
              </a:rPr>
              <a:t>2026-05-05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320040"/>
            <a:ext cx="11155680" cy="548640"/>
          </a:xfrm>
          <a:prstGeom prst="rect">
            <a:avLst/>
          </a:prstGeom>
          <a:noFill/>
        </p:spPr>
        <p:txBody>
          <a:bodyPr wrap="none">
            <a:spAutoFit/>
          </a:bodyPr>
          <a:lstStyle/>
          <a:p>
            <a:r>
              <a:rPr sz="2800" b="1">
                <a:solidFill>
                  <a:srgbClr val="193750"/>
                </a:solidFill>
                <a:latin typeface="Microsoft YaHei"/>
              </a:rPr>
              <a:t>项目定位：一环中的城市级流量入口</a:t>
            </a:r>
          </a:p>
        </p:txBody>
      </p:sp>
      <p:sp>
        <p:nvSpPr>
          <p:cNvPr id="3" name="TextBox 2"/>
          <p:cNvSpPr txBox="1"/>
          <p:nvPr/>
        </p:nvSpPr>
        <p:spPr>
          <a:xfrm>
            <a:off x="594360" y="987552"/>
            <a:ext cx="10972800" cy="384048"/>
          </a:xfrm>
          <a:prstGeom prst="rect">
            <a:avLst/>
          </a:prstGeom>
          <a:noFill/>
        </p:spPr>
        <p:txBody>
          <a:bodyPr wrap="none">
            <a:spAutoFit/>
          </a:bodyPr>
          <a:lstStyle/>
          <a:p>
            <a:r>
              <a:rPr sz="1500" b="0">
                <a:solidFill>
                  <a:srgbClr val="5A5A5A"/>
                </a:solidFill>
                <a:latin typeface="Microsoft YaHei"/>
              </a:rPr>
              <a:t>从普通驿站停留点升级为易博园的视觉入口、青年消费入口和 AI 问卦入口。</a:t>
            </a:r>
          </a:p>
        </p:txBody>
      </p:sp>
      <p:sp>
        <p:nvSpPr>
          <p:cNvPr id="4" name="TextBox 3"/>
          <p:cNvSpPr txBox="1"/>
          <p:nvPr/>
        </p:nvSpPr>
        <p:spPr>
          <a:xfrm>
            <a:off x="685800" y="1600200"/>
            <a:ext cx="5486400" cy="4389120"/>
          </a:xfrm>
          <a:prstGeom prst="rect">
            <a:avLst/>
          </a:prstGeom>
          <a:noFill/>
        </p:spPr>
        <p:txBody>
          <a:bodyPr wrap="square">
            <a:spAutoFit/>
          </a:bodyPr>
          <a:lstStyle/>
          <a:p/>
        </p:txBody>
      </p:sp>
      <p:sp>
        <p:nvSpPr>
          <p:cNvPr id="5" name="Rectangle 4"/>
          <p:cNvSpPr/>
          <p:nvPr/>
        </p:nvSpPr>
        <p:spPr>
          <a:xfrm>
            <a:off x="6492240" y="1508760"/>
            <a:ext cx="5074920" cy="4480560"/>
          </a:xfrm>
          <a:prstGeom prst="rect">
            <a:avLst/>
          </a:prstGeom>
          <a:solidFill>
            <a:srgbClr val="EBF1F5"/>
          </a:solidFill>
          <a:ln>
            <a:solidFill>
              <a:srgbClr val="A0B4C3"/>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a:solidFill>
                  <a:srgbClr val="505F69"/>
                </a:solidFill>
                <a:latin typeface="Microsoft YaHei"/>
              </a:defRPr>
            </a:pPr>
            <a:r>
              <a:t>画面建议</a:t>
            </a:r>
            <a:br/>
            <a:r>
              <a:t>一环、四园、五酒店联动示意图；天空之山区位示意图</a:t>
            </a:r>
          </a:p>
        </p:txBody>
      </p:sp>
      <p:sp>
        <p:nvSpPr>
          <p:cNvPr id="6" name="TextBox 5"/>
          <p:cNvSpPr txBox="1"/>
          <p:nvPr/>
        </p:nvSpPr>
        <p:spPr>
          <a:xfrm>
            <a:off x="11292840" y="6355080"/>
            <a:ext cx="457200" cy="228600"/>
          </a:xfrm>
          <a:prstGeom prst="rect">
            <a:avLst/>
          </a:prstGeom>
          <a:noFill/>
        </p:spPr>
        <p:txBody>
          <a:bodyPr wrap="none">
            <a:spAutoFit/>
          </a:bodyPr>
          <a:lstStyle/>
          <a:p>
            <a:r>
              <a:rPr sz="1000" b="0">
                <a:solidFill>
                  <a:srgbClr val="8C8C8C"/>
                </a:solidFill>
                <a:latin typeface="Microsoft YaHei"/>
              </a:rPr>
              <a:t>02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320040"/>
            <a:ext cx="11155680" cy="548640"/>
          </a:xfrm>
          <a:prstGeom prst="rect">
            <a:avLst/>
          </a:prstGeom>
          <a:noFill/>
        </p:spPr>
        <p:txBody>
          <a:bodyPr wrap="none">
            <a:spAutoFit/>
          </a:bodyPr>
          <a:lstStyle/>
          <a:p>
            <a:r>
              <a:rPr sz="2800" b="1">
                <a:solidFill>
                  <a:srgbClr val="193750"/>
                </a:solidFill>
                <a:latin typeface="Microsoft YaHei"/>
              </a:rPr>
              <a:t>核心概念：遇阻则迂回，处险则沉静</a:t>
            </a:r>
          </a:p>
        </p:txBody>
      </p:sp>
      <p:sp>
        <p:nvSpPr>
          <p:cNvPr id="3" name="TextBox 2"/>
          <p:cNvSpPr txBox="1"/>
          <p:nvPr/>
        </p:nvSpPr>
        <p:spPr>
          <a:xfrm>
            <a:off x="594360" y="987552"/>
            <a:ext cx="10972800" cy="384048"/>
          </a:xfrm>
          <a:prstGeom prst="rect">
            <a:avLst/>
          </a:prstGeom>
          <a:noFill/>
        </p:spPr>
        <p:txBody>
          <a:bodyPr wrap="none">
            <a:spAutoFit/>
          </a:bodyPr>
          <a:lstStyle/>
          <a:p>
            <a:r>
              <a:rPr sz="1500" b="0">
                <a:solidFill>
                  <a:srgbClr val="5A5A5A"/>
                </a:solidFill>
                <a:latin typeface="Microsoft YaHei"/>
              </a:rPr>
              <a:t>把坎卦的水、险、流动、蓄势转化为可体验的平地广场空间。</a:t>
            </a:r>
          </a:p>
        </p:txBody>
      </p:sp>
      <p:sp>
        <p:nvSpPr>
          <p:cNvPr id="4" name="TextBox 3"/>
          <p:cNvSpPr txBox="1"/>
          <p:nvPr/>
        </p:nvSpPr>
        <p:spPr>
          <a:xfrm>
            <a:off x="685800" y="1600200"/>
            <a:ext cx="5486400" cy="4389120"/>
          </a:xfrm>
          <a:prstGeom prst="rect">
            <a:avLst/>
          </a:prstGeom>
          <a:noFill/>
        </p:spPr>
        <p:txBody>
          <a:bodyPr wrap="square">
            <a:spAutoFit/>
          </a:bodyPr>
          <a:lstStyle/>
          <a:p>
            <a:pPr>
              <a:defRPr sz="1700">
                <a:solidFill>
                  <a:srgbClr val="323232"/>
                </a:solidFill>
                <a:latin typeface="Microsoft YaHei"/>
              </a:defRPr>
            </a:pPr>
            <a:r>
              <a:t>平地广场不做坡地，以水纹回环动线表达“迂回”。</a:t>
            </a:r>
          </a:p>
          <a:p>
            <a:pPr>
              <a:defRPr sz="1700">
                <a:solidFill>
                  <a:srgbClr val="323232"/>
                </a:solidFill>
                <a:latin typeface="Microsoft YaHei"/>
              </a:defRPr>
            </a:pPr>
            <a:r>
              <a:t>以水镜中庭和低位停留空间表达“沉静”。</a:t>
            </a:r>
          </a:p>
          <a:p>
            <a:pPr>
              <a:defRPr sz="1700">
                <a:solidFill>
                  <a:srgbClr val="323232"/>
                </a:solidFill>
                <a:latin typeface="Microsoft YaHei"/>
              </a:defRPr>
            </a:pPr>
            <a:r>
              <a:t>以三险体验廊和突破光环表达“蓄势突破”。</a:t>
            </a:r>
          </a:p>
          <a:p>
            <a:pPr>
              <a:defRPr sz="1700">
                <a:solidFill>
                  <a:srgbClr val="323232"/>
                </a:solidFill>
                <a:latin typeface="Microsoft YaHei"/>
              </a:defRPr>
            </a:pPr>
            <a:r>
              <a:t>以 AI 问卦亭承接“人生方向感系统”。</a:t>
            </a:r>
          </a:p>
        </p:txBody>
      </p:sp>
      <p:sp>
        <p:nvSpPr>
          <p:cNvPr id="5" name="Rectangle 4"/>
          <p:cNvSpPr/>
          <p:nvPr/>
        </p:nvSpPr>
        <p:spPr>
          <a:xfrm>
            <a:off x="6492240" y="1508760"/>
            <a:ext cx="5074920" cy="4480560"/>
          </a:xfrm>
          <a:prstGeom prst="rect">
            <a:avLst/>
          </a:prstGeom>
          <a:solidFill>
            <a:srgbClr val="EBF1F5"/>
          </a:solidFill>
          <a:ln>
            <a:solidFill>
              <a:srgbClr val="A0B4C3"/>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a:solidFill>
                  <a:srgbClr val="505F69"/>
                </a:solidFill>
                <a:latin typeface="Microsoft YaHei"/>
              </a:defRPr>
            </a:pPr>
            <a:r>
              <a:t>画面建议</a:t>
            </a:r>
            <a:br/>
            <a:r>
              <a:t>坎卦符号、水纹路径、空间体验流程图</a:t>
            </a:r>
          </a:p>
        </p:txBody>
      </p:sp>
      <p:sp>
        <p:nvSpPr>
          <p:cNvPr id="6" name="TextBox 5"/>
          <p:cNvSpPr txBox="1"/>
          <p:nvPr/>
        </p:nvSpPr>
        <p:spPr>
          <a:xfrm>
            <a:off x="11292840" y="6355080"/>
            <a:ext cx="457200" cy="228600"/>
          </a:xfrm>
          <a:prstGeom prst="rect">
            <a:avLst/>
          </a:prstGeom>
          <a:noFill/>
        </p:spPr>
        <p:txBody>
          <a:bodyPr wrap="none">
            <a:spAutoFit/>
          </a:bodyPr>
          <a:lstStyle/>
          <a:p>
            <a:r>
              <a:rPr sz="1000" b="0">
                <a:solidFill>
                  <a:srgbClr val="8C8C8C"/>
                </a:solidFill>
                <a:latin typeface="Microsoft YaHei"/>
              </a:rPr>
              <a:t>03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320040"/>
            <a:ext cx="11155680" cy="548640"/>
          </a:xfrm>
          <a:prstGeom prst="rect">
            <a:avLst/>
          </a:prstGeom>
          <a:noFill/>
        </p:spPr>
        <p:txBody>
          <a:bodyPr wrap="none">
            <a:spAutoFit/>
          </a:bodyPr>
          <a:lstStyle/>
          <a:p>
            <a:r>
              <a:rPr sz="2800" b="1">
                <a:solidFill>
                  <a:srgbClr val="193750"/>
                </a:solidFill>
                <a:latin typeface="Microsoft YaHei"/>
              </a:rPr>
              <a:t>总平面结构：八个空间节点</a:t>
            </a:r>
          </a:p>
        </p:txBody>
      </p:sp>
      <p:sp>
        <p:nvSpPr>
          <p:cNvPr id="3" name="TextBox 2"/>
          <p:cNvSpPr txBox="1"/>
          <p:nvPr/>
        </p:nvSpPr>
        <p:spPr>
          <a:xfrm>
            <a:off x="594360" y="987552"/>
            <a:ext cx="10972800" cy="384048"/>
          </a:xfrm>
          <a:prstGeom prst="rect">
            <a:avLst/>
          </a:prstGeom>
          <a:noFill/>
        </p:spPr>
        <p:txBody>
          <a:bodyPr wrap="none">
            <a:spAutoFit/>
          </a:bodyPr>
          <a:lstStyle/>
          <a:p>
            <a:r>
              <a:rPr sz="1500" b="0">
                <a:solidFill>
                  <a:srgbClr val="5A5A5A"/>
                </a:solidFill>
                <a:latin typeface="Microsoft YaHei"/>
              </a:rPr>
              <a:t>形成“入坎—迂回—沉静—蓄势—突破—导流”的完整体验路径。</a:t>
            </a:r>
          </a:p>
        </p:txBody>
      </p:sp>
      <p:sp>
        <p:nvSpPr>
          <p:cNvPr id="4" name="TextBox 3"/>
          <p:cNvSpPr txBox="1"/>
          <p:nvPr/>
        </p:nvSpPr>
        <p:spPr>
          <a:xfrm>
            <a:off x="685800" y="1600200"/>
            <a:ext cx="5486400" cy="4389120"/>
          </a:xfrm>
          <a:prstGeom prst="rect">
            <a:avLst/>
          </a:prstGeom>
          <a:noFill/>
        </p:spPr>
        <p:txBody>
          <a:bodyPr wrap="square">
            <a:spAutoFit/>
          </a:bodyPr>
          <a:lstStyle/>
          <a:p>
            <a:pPr>
              <a:defRPr sz="1700">
                <a:solidFill>
                  <a:srgbClr val="323232"/>
                </a:solidFill>
                <a:latin typeface="Microsoft YaHei"/>
              </a:defRPr>
            </a:pPr>
            <a:r>
              <a:t>坎门入口：第一识别界面与 AI 问卦启动点。</a:t>
            </a:r>
          </a:p>
          <a:p>
            <a:pPr>
              <a:defRPr sz="1700">
                <a:solidFill>
                  <a:srgbClr val="323232"/>
                </a:solidFill>
                <a:latin typeface="Microsoft YaHei"/>
              </a:defRPr>
            </a:pPr>
            <a:r>
              <a:t>迂回水纹动线：替代直线商业街，形成坎卦行为体验。</a:t>
            </a:r>
          </a:p>
          <a:p>
            <a:pPr>
              <a:defRPr sz="1700">
                <a:solidFill>
                  <a:srgbClr val="323232"/>
                </a:solidFill>
                <a:latin typeface="Microsoft YaHei"/>
              </a:defRPr>
            </a:pPr>
            <a:r>
              <a:t>水镜中庭：游客停留、拍照、沉静的核心节点。</a:t>
            </a:r>
          </a:p>
          <a:p>
            <a:pPr>
              <a:defRPr sz="1700">
                <a:solidFill>
                  <a:srgbClr val="323232"/>
                </a:solidFill>
                <a:latin typeface="Microsoft YaHei"/>
              </a:defRPr>
            </a:pPr>
            <a:r>
              <a:t>三险体验廊：初险、重险、破险三段互动。</a:t>
            </a:r>
          </a:p>
          <a:p>
            <a:pPr>
              <a:defRPr sz="1700">
                <a:solidFill>
                  <a:srgbClr val="323232"/>
                </a:solidFill>
                <a:latin typeface="Microsoft YaHei"/>
              </a:defRPr>
            </a:pPr>
            <a:r>
              <a:t>蓄势市集、AI 问卦亭、突破光环、夜间水光街区共同形成商业闭环。</a:t>
            </a:r>
          </a:p>
        </p:txBody>
      </p:sp>
      <p:sp>
        <p:nvSpPr>
          <p:cNvPr id="5" name="Rectangle 4"/>
          <p:cNvSpPr/>
          <p:nvPr/>
        </p:nvSpPr>
        <p:spPr>
          <a:xfrm>
            <a:off x="6492240" y="1508760"/>
            <a:ext cx="5074920" cy="4480560"/>
          </a:xfrm>
          <a:prstGeom prst="rect">
            <a:avLst/>
          </a:prstGeom>
          <a:solidFill>
            <a:srgbClr val="EBF1F5"/>
          </a:solidFill>
          <a:ln>
            <a:solidFill>
              <a:srgbClr val="A0B4C3"/>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a:solidFill>
                  <a:srgbClr val="505F69"/>
                </a:solidFill>
                <a:latin typeface="Microsoft YaHei"/>
              </a:defRPr>
            </a:pPr>
            <a:r>
              <a:t>画面建议</a:t>
            </a:r>
            <a:br/>
            <a:r>
              <a:t>鸟瞰总平面概念图，标出 8 个节点</a:t>
            </a:r>
          </a:p>
        </p:txBody>
      </p:sp>
      <p:sp>
        <p:nvSpPr>
          <p:cNvPr id="6" name="TextBox 5"/>
          <p:cNvSpPr txBox="1"/>
          <p:nvPr/>
        </p:nvSpPr>
        <p:spPr>
          <a:xfrm>
            <a:off x="11292840" y="6355080"/>
            <a:ext cx="457200" cy="228600"/>
          </a:xfrm>
          <a:prstGeom prst="rect">
            <a:avLst/>
          </a:prstGeom>
          <a:noFill/>
        </p:spPr>
        <p:txBody>
          <a:bodyPr wrap="none">
            <a:spAutoFit/>
          </a:bodyPr>
          <a:lstStyle/>
          <a:p>
            <a:r>
              <a:rPr sz="1000" b="0">
                <a:solidFill>
                  <a:srgbClr val="8C8C8C"/>
                </a:solidFill>
                <a:latin typeface="Microsoft YaHei"/>
              </a:rPr>
              <a:t>04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320040"/>
            <a:ext cx="11155680" cy="548640"/>
          </a:xfrm>
          <a:prstGeom prst="rect">
            <a:avLst/>
          </a:prstGeom>
          <a:noFill/>
        </p:spPr>
        <p:txBody>
          <a:bodyPr wrap="none">
            <a:spAutoFit/>
          </a:bodyPr>
          <a:lstStyle/>
          <a:p>
            <a:r>
              <a:rPr sz="2800" b="1">
                <a:solidFill>
                  <a:srgbClr val="193750"/>
                </a:solidFill>
                <a:latin typeface="Microsoft YaHei"/>
              </a:rPr>
              <a:t>重点节点一：坎门入口</a:t>
            </a:r>
          </a:p>
        </p:txBody>
      </p:sp>
      <p:sp>
        <p:nvSpPr>
          <p:cNvPr id="3" name="TextBox 2"/>
          <p:cNvSpPr txBox="1"/>
          <p:nvPr/>
        </p:nvSpPr>
        <p:spPr>
          <a:xfrm>
            <a:off x="594360" y="987552"/>
            <a:ext cx="10972800" cy="384048"/>
          </a:xfrm>
          <a:prstGeom prst="rect">
            <a:avLst/>
          </a:prstGeom>
          <a:noFill/>
        </p:spPr>
        <p:txBody>
          <a:bodyPr wrap="none">
            <a:spAutoFit/>
          </a:bodyPr>
          <a:lstStyle/>
          <a:p>
            <a:r>
              <a:rPr sz="1500" b="0">
                <a:solidFill>
                  <a:srgbClr val="5A5A5A"/>
                </a:solidFill>
                <a:latin typeface="Microsoft YaHei"/>
              </a:rPr>
              <a:t>入口不是普通门头，而是“人生方向感系统”的启动界面。</a:t>
            </a:r>
          </a:p>
        </p:txBody>
      </p:sp>
      <p:sp>
        <p:nvSpPr>
          <p:cNvPr id="4" name="TextBox 3"/>
          <p:cNvSpPr txBox="1"/>
          <p:nvPr/>
        </p:nvSpPr>
        <p:spPr>
          <a:xfrm>
            <a:off x="685800" y="1600200"/>
            <a:ext cx="5486400" cy="4389120"/>
          </a:xfrm>
          <a:prstGeom prst="rect">
            <a:avLst/>
          </a:prstGeom>
          <a:noFill/>
        </p:spPr>
        <p:txBody>
          <a:bodyPr wrap="square">
            <a:spAutoFit/>
          </a:bodyPr>
          <a:lstStyle/>
          <a:p>
            <a:pPr>
              <a:defRPr sz="1700">
                <a:solidFill>
                  <a:srgbClr val="323232"/>
                </a:solidFill>
                <a:latin typeface="Microsoft YaHei"/>
              </a:defRPr>
            </a:pPr>
            <a:r>
              <a:t>坎门入口是“天空之山·坎卦智慧广场”的第一识别界面，建议设置于游客由海口天空之山驿站步行进入商业广场的主入口位置。该入口不采用高大仿古牌坊，也不与天空之山主体建筑争夺视觉中心，而是...</a:t>
            </a:r>
          </a:p>
          <a:p>
            <a:pPr>
              <a:defRPr sz="1700">
                <a:solidFill>
                  <a:srgbClr val="323232"/>
                </a:solidFill>
                <a:latin typeface="Microsoft YaHei"/>
              </a:defRPr>
            </a:pPr>
            <a:r>
              <a:t>材料上，坎门可采用深灰金属骨架、半透明水纹亚克力、蓝白 LED 线性灯带与局部低雾喷口。地面以三段断续水纹铺装呼应坎卦卦象，白天形成清晰导向，夜晚则通过灯带和雾化形成水气氛围。入口...</a:t>
            </a:r>
          </a:p>
          <a:p>
            <a:pPr>
              <a:defRPr sz="1700">
                <a:solidFill>
                  <a:srgbClr val="323232"/>
                </a:solidFill>
                <a:latin typeface="Microsoft YaHei"/>
              </a:defRPr>
            </a:pPr>
            <a:r>
              <a:t>该节点的传播点不是单一打卡牌，而是“人从水纹光门中转身进入”的动态画面。游客在入口完成拍照、扫码、转向、进入四个动作，空间行为本身即完成了“遇阻则迂回，处险则沉静”的体验教育，使一...</a:t>
            </a:r>
          </a:p>
          <a:p>
            <a:pPr>
              <a:defRPr sz="1700">
                <a:solidFill>
                  <a:srgbClr val="323232"/>
                </a:solidFill>
                <a:latin typeface="Microsoft YaHei"/>
              </a:defRPr>
            </a:pPr>
            <a:r>
              <a:t>功能定位：作为商业区第一视觉界面、AI 问卦启动点、游客心理转场点。</a:t>
            </a:r>
          </a:p>
          <a:p>
            <a:pPr>
              <a:defRPr sz="1700">
                <a:solidFill>
                  <a:srgbClr val="323232"/>
                </a:solidFill>
                <a:latin typeface="Microsoft YaHei"/>
              </a:defRPr>
            </a:pPr>
            <a:r>
              <a:t>空间形态：三段错位弧形门架，配合地面水纹铺装形成非直线路径。</a:t>
            </a:r>
          </a:p>
          <a:p>
            <a:pPr>
              <a:defRPr sz="1700">
                <a:solidFill>
                  <a:srgbClr val="323232"/>
                </a:solidFill>
                <a:latin typeface="Microsoft YaHei"/>
              </a:defRPr>
            </a:pPr>
            <a:r>
              <a:t>材料与视觉：深灰金属、半透明水纹板、蓝白灯带、低雾、镜面反射材料。</a:t>
            </a:r>
          </a:p>
        </p:txBody>
      </p:sp>
      <p:sp>
        <p:nvSpPr>
          <p:cNvPr id="5" name="Rectangle 4"/>
          <p:cNvSpPr/>
          <p:nvPr/>
        </p:nvSpPr>
        <p:spPr>
          <a:xfrm>
            <a:off x="6492240" y="1508760"/>
            <a:ext cx="5074920" cy="4480560"/>
          </a:xfrm>
          <a:prstGeom prst="rect">
            <a:avLst/>
          </a:prstGeom>
          <a:solidFill>
            <a:srgbClr val="EBF1F5"/>
          </a:solidFill>
          <a:ln>
            <a:solidFill>
              <a:srgbClr val="A0B4C3"/>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a:solidFill>
                  <a:srgbClr val="505F69"/>
                </a:solidFill>
                <a:latin typeface="Microsoft YaHei"/>
              </a:defRPr>
            </a:pPr>
            <a:r>
              <a:t>画面建议</a:t>
            </a:r>
            <a:br/>
            <a:r>
              <a:t>入口人视角效果图：低矮弧形门架、水纹灯带、低雾、天空之山背景同框</a:t>
            </a:r>
          </a:p>
        </p:txBody>
      </p:sp>
      <p:sp>
        <p:nvSpPr>
          <p:cNvPr id="6" name="TextBox 5"/>
          <p:cNvSpPr txBox="1"/>
          <p:nvPr/>
        </p:nvSpPr>
        <p:spPr>
          <a:xfrm>
            <a:off x="11292840" y="6355080"/>
            <a:ext cx="457200" cy="228600"/>
          </a:xfrm>
          <a:prstGeom prst="rect">
            <a:avLst/>
          </a:prstGeom>
          <a:noFill/>
        </p:spPr>
        <p:txBody>
          <a:bodyPr wrap="none">
            <a:spAutoFit/>
          </a:bodyPr>
          <a:lstStyle/>
          <a:p>
            <a:r>
              <a:rPr sz="1000" b="0">
                <a:solidFill>
                  <a:srgbClr val="8C8C8C"/>
                </a:solidFill>
                <a:latin typeface="Microsoft YaHei"/>
              </a:rPr>
              <a:t>05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320040"/>
            <a:ext cx="11155680" cy="548640"/>
          </a:xfrm>
          <a:prstGeom prst="rect">
            <a:avLst/>
          </a:prstGeom>
          <a:noFill/>
        </p:spPr>
        <p:txBody>
          <a:bodyPr wrap="none">
            <a:spAutoFit/>
          </a:bodyPr>
          <a:lstStyle/>
          <a:p>
            <a:r>
              <a:rPr sz="2800" b="1">
                <a:solidFill>
                  <a:srgbClr val="193750"/>
                </a:solidFill>
                <a:latin typeface="Microsoft YaHei"/>
              </a:rPr>
              <a:t>重点节点二：水纹回环动线与水镜中庭</a:t>
            </a:r>
          </a:p>
        </p:txBody>
      </p:sp>
      <p:sp>
        <p:nvSpPr>
          <p:cNvPr id="3" name="TextBox 2"/>
          <p:cNvSpPr txBox="1"/>
          <p:nvPr/>
        </p:nvSpPr>
        <p:spPr>
          <a:xfrm>
            <a:off x="594360" y="987552"/>
            <a:ext cx="10972800" cy="384048"/>
          </a:xfrm>
          <a:prstGeom prst="rect">
            <a:avLst/>
          </a:prstGeom>
          <a:noFill/>
        </p:spPr>
        <p:txBody>
          <a:bodyPr wrap="none">
            <a:spAutoFit/>
          </a:bodyPr>
          <a:lstStyle/>
          <a:p>
            <a:r>
              <a:rPr sz="1500" b="0">
                <a:solidFill>
                  <a:srgbClr val="5A5A5A"/>
                </a:solidFill>
                <a:latin typeface="Microsoft YaHei"/>
              </a:rPr>
              <a:t>以路径组织替代传统商业街排列，让游客在行走中体验坎卦智慧。</a:t>
            </a:r>
          </a:p>
        </p:txBody>
      </p:sp>
      <p:sp>
        <p:nvSpPr>
          <p:cNvPr id="4" name="TextBox 3"/>
          <p:cNvSpPr txBox="1"/>
          <p:nvPr/>
        </p:nvSpPr>
        <p:spPr>
          <a:xfrm>
            <a:off x="685800" y="1600200"/>
            <a:ext cx="5486400" cy="4389120"/>
          </a:xfrm>
          <a:prstGeom prst="rect">
            <a:avLst/>
          </a:prstGeom>
          <a:noFill/>
        </p:spPr>
        <p:txBody>
          <a:bodyPr wrap="square">
            <a:spAutoFit/>
          </a:bodyPr>
          <a:lstStyle/>
          <a:p>
            <a:pPr>
              <a:defRPr sz="1700">
                <a:solidFill>
                  <a:srgbClr val="323232"/>
                </a:solidFill>
                <a:latin typeface="Microsoft YaHei"/>
              </a:defRPr>
            </a:pPr>
            <a:r>
              <a:t>地面铺装、灯带和浅水纹理共同形成回环路径。</a:t>
            </a:r>
          </a:p>
          <a:p>
            <a:pPr>
              <a:defRPr sz="1700">
                <a:solidFill>
                  <a:srgbClr val="323232"/>
                </a:solidFill>
                <a:latin typeface="Microsoft YaHei"/>
              </a:defRPr>
            </a:pPr>
            <a:r>
              <a:t>游客不能直线穿越，而是在转向中完成“遇阻则迂回”的体验。</a:t>
            </a:r>
          </a:p>
          <a:p>
            <a:pPr>
              <a:defRPr sz="1700">
                <a:solidFill>
                  <a:srgbClr val="323232"/>
                </a:solidFill>
                <a:latin typeface="Microsoft YaHei"/>
              </a:defRPr>
            </a:pPr>
            <a:r>
              <a:t>水镜中庭提供停留、倒影、拍照、情绪沉静的核心场所。</a:t>
            </a:r>
          </a:p>
          <a:p>
            <a:pPr>
              <a:defRPr sz="1700">
                <a:solidFill>
                  <a:srgbClr val="323232"/>
                </a:solidFill>
                <a:latin typeface="Microsoft YaHei"/>
              </a:defRPr>
            </a:pPr>
            <a:r>
              <a:t>白天是公共艺术广场，夜晚转化为水光消费场景。</a:t>
            </a:r>
          </a:p>
        </p:txBody>
      </p:sp>
      <p:sp>
        <p:nvSpPr>
          <p:cNvPr id="5" name="Rectangle 4"/>
          <p:cNvSpPr/>
          <p:nvPr/>
        </p:nvSpPr>
        <p:spPr>
          <a:xfrm>
            <a:off x="6492240" y="1508760"/>
            <a:ext cx="5074920" cy="4480560"/>
          </a:xfrm>
          <a:prstGeom prst="rect">
            <a:avLst/>
          </a:prstGeom>
          <a:solidFill>
            <a:srgbClr val="EBF1F5"/>
          </a:solidFill>
          <a:ln>
            <a:solidFill>
              <a:srgbClr val="A0B4C3"/>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a:solidFill>
                  <a:srgbClr val="505F69"/>
                </a:solidFill>
                <a:latin typeface="Microsoft YaHei"/>
              </a:defRPr>
            </a:pPr>
            <a:r>
              <a:t>画面建议</a:t>
            </a:r>
            <a:br/>
            <a:r>
              <a:t>水纹动线示意图 + 水镜中庭人视角效果图</a:t>
            </a:r>
          </a:p>
        </p:txBody>
      </p:sp>
      <p:sp>
        <p:nvSpPr>
          <p:cNvPr id="6" name="TextBox 5"/>
          <p:cNvSpPr txBox="1"/>
          <p:nvPr/>
        </p:nvSpPr>
        <p:spPr>
          <a:xfrm>
            <a:off x="11292840" y="6355080"/>
            <a:ext cx="457200" cy="228600"/>
          </a:xfrm>
          <a:prstGeom prst="rect">
            <a:avLst/>
          </a:prstGeom>
          <a:noFill/>
        </p:spPr>
        <p:txBody>
          <a:bodyPr wrap="none">
            <a:spAutoFit/>
          </a:bodyPr>
          <a:lstStyle/>
          <a:p>
            <a:r>
              <a:rPr sz="1000" b="0">
                <a:solidFill>
                  <a:srgbClr val="8C8C8C"/>
                </a:solidFill>
                <a:latin typeface="Microsoft YaHei"/>
              </a:rPr>
              <a:t>06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320040"/>
            <a:ext cx="11155680" cy="548640"/>
          </a:xfrm>
          <a:prstGeom prst="rect">
            <a:avLst/>
          </a:prstGeom>
          <a:noFill/>
        </p:spPr>
        <p:txBody>
          <a:bodyPr wrap="none">
            <a:spAutoFit/>
          </a:bodyPr>
          <a:lstStyle/>
          <a:p>
            <a:r>
              <a:rPr sz="2800" b="1">
                <a:solidFill>
                  <a:srgbClr val="193750"/>
                </a:solidFill>
                <a:latin typeface="Microsoft YaHei"/>
              </a:rPr>
              <a:t>商业业态：从补给商业升级为非标消费场</a:t>
            </a:r>
          </a:p>
        </p:txBody>
      </p:sp>
      <p:sp>
        <p:nvSpPr>
          <p:cNvPr id="3" name="TextBox 2"/>
          <p:cNvSpPr txBox="1"/>
          <p:nvPr/>
        </p:nvSpPr>
        <p:spPr>
          <a:xfrm>
            <a:off x="594360" y="987552"/>
            <a:ext cx="10972800" cy="384048"/>
          </a:xfrm>
          <a:prstGeom prst="rect">
            <a:avLst/>
          </a:prstGeom>
          <a:noFill/>
        </p:spPr>
        <p:txBody>
          <a:bodyPr wrap="none">
            <a:spAutoFit/>
          </a:bodyPr>
          <a:lstStyle/>
          <a:p>
            <a:r>
              <a:rPr sz="1500" b="0">
                <a:solidFill>
                  <a:srgbClr val="5A5A5A"/>
                </a:solidFill>
                <a:latin typeface="Microsoft YaHei"/>
              </a:rPr>
              <a:t>围绕“视觉引流—易学植入—互动传播—商业变现”构建业态组合。</a:t>
            </a:r>
          </a:p>
        </p:txBody>
      </p:sp>
      <p:sp>
        <p:nvSpPr>
          <p:cNvPr id="4" name="TextBox 3"/>
          <p:cNvSpPr txBox="1"/>
          <p:nvPr/>
        </p:nvSpPr>
        <p:spPr>
          <a:xfrm>
            <a:off x="685800" y="1600200"/>
            <a:ext cx="5486400" cy="4389120"/>
          </a:xfrm>
          <a:prstGeom prst="rect">
            <a:avLst/>
          </a:prstGeom>
          <a:noFill/>
        </p:spPr>
        <p:txBody>
          <a:bodyPr wrap="square">
            <a:spAutoFit/>
          </a:bodyPr>
          <a:lstStyle/>
          <a:p/>
        </p:txBody>
      </p:sp>
      <p:sp>
        <p:nvSpPr>
          <p:cNvPr id="5" name="Rectangle 4"/>
          <p:cNvSpPr/>
          <p:nvPr/>
        </p:nvSpPr>
        <p:spPr>
          <a:xfrm>
            <a:off x="6492240" y="1508760"/>
            <a:ext cx="5074920" cy="4480560"/>
          </a:xfrm>
          <a:prstGeom prst="rect">
            <a:avLst/>
          </a:prstGeom>
          <a:solidFill>
            <a:srgbClr val="EBF1F5"/>
          </a:solidFill>
          <a:ln>
            <a:solidFill>
              <a:srgbClr val="A0B4C3"/>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a:solidFill>
                  <a:srgbClr val="505F69"/>
                </a:solidFill>
                <a:latin typeface="Microsoft YaHei"/>
              </a:defRPr>
            </a:pPr>
            <a:r>
              <a:t>画面建议</a:t>
            </a:r>
            <a:br/>
            <a:r>
              <a:t>业态分布图；模块化商业盒子；水光咖啡、潮汐市集、AI体验馆示意</a:t>
            </a:r>
          </a:p>
        </p:txBody>
      </p:sp>
      <p:sp>
        <p:nvSpPr>
          <p:cNvPr id="6" name="TextBox 5"/>
          <p:cNvSpPr txBox="1"/>
          <p:nvPr/>
        </p:nvSpPr>
        <p:spPr>
          <a:xfrm>
            <a:off x="11292840" y="6355080"/>
            <a:ext cx="457200" cy="228600"/>
          </a:xfrm>
          <a:prstGeom prst="rect">
            <a:avLst/>
          </a:prstGeom>
          <a:noFill/>
        </p:spPr>
        <p:txBody>
          <a:bodyPr wrap="none">
            <a:spAutoFit/>
          </a:bodyPr>
          <a:lstStyle/>
          <a:p>
            <a:r>
              <a:rPr sz="1000" b="0">
                <a:solidFill>
                  <a:srgbClr val="8C8C8C"/>
                </a:solidFill>
                <a:latin typeface="Microsoft YaHei"/>
              </a:rPr>
              <a:t>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320040"/>
            <a:ext cx="11155680" cy="548640"/>
          </a:xfrm>
          <a:prstGeom prst="rect">
            <a:avLst/>
          </a:prstGeom>
          <a:noFill/>
        </p:spPr>
        <p:txBody>
          <a:bodyPr wrap="none">
            <a:spAutoFit/>
          </a:bodyPr>
          <a:lstStyle/>
          <a:p>
            <a:r>
              <a:rPr sz="2800" b="1">
                <a:solidFill>
                  <a:srgbClr val="193750"/>
                </a:solidFill>
                <a:latin typeface="Microsoft YaHei"/>
              </a:rPr>
              <a:t>AI 问卦与导流系统</a:t>
            </a:r>
          </a:p>
        </p:txBody>
      </p:sp>
      <p:sp>
        <p:nvSpPr>
          <p:cNvPr id="3" name="TextBox 2"/>
          <p:cNvSpPr txBox="1"/>
          <p:nvPr/>
        </p:nvSpPr>
        <p:spPr>
          <a:xfrm>
            <a:off x="594360" y="987552"/>
            <a:ext cx="10972800" cy="384048"/>
          </a:xfrm>
          <a:prstGeom prst="rect">
            <a:avLst/>
          </a:prstGeom>
          <a:noFill/>
        </p:spPr>
        <p:txBody>
          <a:bodyPr wrap="none">
            <a:spAutoFit/>
          </a:bodyPr>
          <a:lstStyle/>
          <a:p>
            <a:r>
              <a:rPr sz="1500" b="0">
                <a:solidFill>
                  <a:srgbClr val="5A5A5A"/>
                </a:solidFill>
                <a:latin typeface="Microsoft YaHei"/>
              </a:rPr>
              <a:t>不做预测命运，而做文化解读、心理启发、行动建议和旅行导流。</a:t>
            </a:r>
          </a:p>
        </p:txBody>
      </p:sp>
      <p:sp>
        <p:nvSpPr>
          <p:cNvPr id="4" name="TextBox 3"/>
          <p:cNvSpPr txBox="1"/>
          <p:nvPr/>
        </p:nvSpPr>
        <p:spPr>
          <a:xfrm>
            <a:off x="685800" y="1600200"/>
            <a:ext cx="5486400" cy="4389120"/>
          </a:xfrm>
          <a:prstGeom prst="rect">
            <a:avLst/>
          </a:prstGeom>
          <a:noFill/>
        </p:spPr>
        <p:txBody>
          <a:bodyPr wrap="square">
            <a:spAutoFit/>
          </a:bodyPr>
          <a:lstStyle/>
          <a:p>
            <a:pPr>
              <a:defRPr sz="1700">
                <a:solidFill>
                  <a:srgbClr val="323232"/>
                </a:solidFill>
                <a:latin typeface="Microsoft YaHei"/>
              </a:defRPr>
            </a:pPr>
            <a:r>
              <a:t>游客选择事业、家庭、健康、财富、情感、学业、旅行七类问题。</a:t>
            </a:r>
          </a:p>
          <a:p>
            <a:pPr>
              <a:defRPr sz="1700">
                <a:solidFill>
                  <a:srgbClr val="323232"/>
                </a:solidFill>
                <a:latin typeface="Microsoft YaHei"/>
              </a:defRPr>
            </a:pPr>
            <a:r>
              <a:t>系统输出今日卦象、风险提示、行动建议和推荐目的地。</a:t>
            </a:r>
          </a:p>
          <a:p>
            <a:pPr>
              <a:defRPr sz="1700">
                <a:solidFill>
                  <a:srgbClr val="323232"/>
                </a:solidFill>
                <a:latin typeface="Microsoft YaHei"/>
              </a:defRPr>
            </a:pPr>
            <a:r>
              <a:t>根据结果导流至孔子园、六祖园、老子园、国艺园或国医酒店。</a:t>
            </a:r>
          </a:p>
          <a:p>
            <a:pPr>
              <a:defRPr sz="1700">
                <a:solidFill>
                  <a:srgbClr val="323232"/>
                </a:solidFill>
                <a:latin typeface="Microsoft YaHei"/>
              </a:defRPr>
            </a:pPr>
            <a:r>
              <a:t>通过优惠券、海南风物券和会员系统形成复访。</a:t>
            </a:r>
          </a:p>
        </p:txBody>
      </p:sp>
      <p:sp>
        <p:nvSpPr>
          <p:cNvPr id="5" name="Rectangle 4"/>
          <p:cNvSpPr/>
          <p:nvPr/>
        </p:nvSpPr>
        <p:spPr>
          <a:xfrm>
            <a:off x="6492240" y="1508760"/>
            <a:ext cx="5074920" cy="4480560"/>
          </a:xfrm>
          <a:prstGeom prst="rect">
            <a:avLst/>
          </a:prstGeom>
          <a:solidFill>
            <a:srgbClr val="EBF1F5"/>
          </a:solidFill>
          <a:ln>
            <a:solidFill>
              <a:srgbClr val="A0B4C3"/>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a:solidFill>
                  <a:srgbClr val="505F69"/>
                </a:solidFill>
                <a:latin typeface="Microsoft YaHei"/>
              </a:defRPr>
            </a:pPr>
            <a:r>
              <a:t>画面建议</a:t>
            </a:r>
            <a:br/>
            <a:r>
              <a:t>AI 问卦产品流程图；手机界面 mockup；优惠券导流示意</a:t>
            </a:r>
          </a:p>
        </p:txBody>
      </p:sp>
      <p:sp>
        <p:nvSpPr>
          <p:cNvPr id="6" name="TextBox 5"/>
          <p:cNvSpPr txBox="1"/>
          <p:nvPr/>
        </p:nvSpPr>
        <p:spPr>
          <a:xfrm>
            <a:off x="11292840" y="6355080"/>
            <a:ext cx="457200" cy="228600"/>
          </a:xfrm>
          <a:prstGeom prst="rect">
            <a:avLst/>
          </a:prstGeom>
          <a:noFill/>
        </p:spPr>
        <p:txBody>
          <a:bodyPr wrap="none">
            <a:spAutoFit/>
          </a:bodyPr>
          <a:lstStyle/>
          <a:p>
            <a:r>
              <a:rPr sz="1000" b="0">
                <a:solidFill>
                  <a:srgbClr val="8C8C8C"/>
                </a:solidFill>
                <a:latin typeface="Microsoft YaHei"/>
              </a:rPr>
              <a:t>08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320040"/>
            <a:ext cx="11155680" cy="548640"/>
          </a:xfrm>
          <a:prstGeom prst="rect">
            <a:avLst/>
          </a:prstGeom>
          <a:noFill/>
        </p:spPr>
        <p:txBody>
          <a:bodyPr wrap="none">
            <a:spAutoFit/>
          </a:bodyPr>
          <a:lstStyle/>
          <a:p>
            <a:r>
              <a:rPr sz="2800" b="1">
                <a:solidFill>
                  <a:srgbClr val="193750"/>
                </a:solidFill>
                <a:latin typeface="Microsoft YaHei"/>
              </a:rPr>
              <a:t>游客体验动线</a:t>
            </a:r>
          </a:p>
        </p:txBody>
      </p:sp>
      <p:sp>
        <p:nvSpPr>
          <p:cNvPr id="3" name="TextBox 2"/>
          <p:cNvSpPr txBox="1"/>
          <p:nvPr/>
        </p:nvSpPr>
        <p:spPr>
          <a:xfrm>
            <a:off x="594360" y="987552"/>
            <a:ext cx="10972800" cy="384048"/>
          </a:xfrm>
          <a:prstGeom prst="rect">
            <a:avLst/>
          </a:prstGeom>
          <a:noFill/>
        </p:spPr>
        <p:txBody>
          <a:bodyPr wrap="none">
            <a:spAutoFit/>
          </a:bodyPr>
          <a:lstStyle/>
          <a:p>
            <a:r>
              <a:rPr sz="1500" b="0">
                <a:solidFill>
                  <a:srgbClr val="5A5A5A"/>
                </a:solidFill>
                <a:latin typeface="Microsoft YaHei"/>
              </a:rPr>
              <a:t>从看见、进入、停留、消费、问卦到下一站推荐，形成完整体验闭环。</a:t>
            </a:r>
          </a:p>
        </p:txBody>
      </p:sp>
      <p:sp>
        <p:nvSpPr>
          <p:cNvPr id="4" name="TextBox 3"/>
          <p:cNvSpPr txBox="1"/>
          <p:nvPr/>
        </p:nvSpPr>
        <p:spPr>
          <a:xfrm>
            <a:off x="685800" y="1600200"/>
            <a:ext cx="5486400" cy="4389120"/>
          </a:xfrm>
          <a:prstGeom prst="rect">
            <a:avLst/>
          </a:prstGeom>
          <a:noFill/>
        </p:spPr>
        <p:txBody>
          <a:bodyPr wrap="square">
            <a:spAutoFit/>
          </a:bodyPr>
          <a:lstStyle/>
          <a:p/>
        </p:txBody>
      </p:sp>
      <p:sp>
        <p:nvSpPr>
          <p:cNvPr id="5" name="Rectangle 4"/>
          <p:cNvSpPr/>
          <p:nvPr/>
        </p:nvSpPr>
        <p:spPr>
          <a:xfrm>
            <a:off x="6492240" y="1508760"/>
            <a:ext cx="5074920" cy="4480560"/>
          </a:xfrm>
          <a:prstGeom prst="rect">
            <a:avLst/>
          </a:prstGeom>
          <a:solidFill>
            <a:srgbClr val="EBF1F5"/>
          </a:solidFill>
          <a:ln>
            <a:solidFill>
              <a:srgbClr val="A0B4C3"/>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a:solidFill>
                  <a:srgbClr val="505F69"/>
                </a:solidFill>
                <a:latin typeface="Microsoft YaHei"/>
              </a:defRPr>
            </a:pPr>
            <a:r>
              <a:t>画面建议</a:t>
            </a:r>
            <a:br/>
            <a:r>
              <a:t>游客旅程地图：远眺 → 坎门 → 水纹动线 → 水镜中庭 → 市集 → AI问卦 → 导流</a:t>
            </a:r>
          </a:p>
        </p:txBody>
      </p:sp>
      <p:sp>
        <p:nvSpPr>
          <p:cNvPr id="6" name="TextBox 5"/>
          <p:cNvSpPr txBox="1"/>
          <p:nvPr/>
        </p:nvSpPr>
        <p:spPr>
          <a:xfrm>
            <a:off x="11292840" y="6355080"/>
            <a:ext cx="457200" cy="228600"/>
          </a:xfrm>
          <a:prstGeom prst="rect">
            <a:avLst/>
          </a:prstGeom>
          <a:noFill/>
        </p:spPr>
        <p:txBody>
          <a:bodyPr wrap="none">
            <a:spAutoFit/>
          </a:bodyPr>
          <a:lstStyle/>
          <a:p>
            <a:r>
              <a:rPr sz="1000" b="0">
                <a:solidFill>
                  <a:srgbClr val="8C8C8C"/>
                </a:solidFill>
                <a:latin typeface="Microsoft YaHei"/>
              </a:rPr>
              <a:t>09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320040"/>
            <a:ext cx="11155680" cy="548640"/>
          </a:xfrm>
          <a:prstGeom prst="rect">
            <a:avLst/>
          </a:prstGeom>
          <a:noFill/>
        </p:spPr>
        <p:txBody>
          <a:bodyPr wrap="none">
            <a:spAutoFit/>
          </a:bodyPr>
          <a:lstStyle/>
          <a:p>
            <a:r>
              <a:rPr sz="2800" b="1">
                <a:solidFill>
                  <a:srgbClr val="193750"/>
                </a:solidFill>
                <a:latin typeface="Microsoft YaHei"/>
              </a:rPr>
              <a:t>夜间水光街区</a:t>
            </a:r>
          </a:p>
        </p:txBody>
      </p:sp>
      <p:sp>
        <p:nvSpPr>
          <p:cNvPr id="3" name="TextBox 2"/>
          <p:cNvSpPr txBox="1"/>
          <p:nvPr/>
        </p:nvSpPr>
        <p:spPr>
          <a:xfrm>
            <a:off x="594360" y="987552"/>
            <a:ext cx="10972800" cy="384048"/>
          </a:xfrm>
          <a:prstGeom prst="rect">
            <a:avLst/>
          </a:prstGeom>
          <a:noFill/>
        </p:spPr>
        <p:txBody>
          <a:bodyPr wrap="none">
            <a:spAutoFit/>
          </a:bodyPr>
          <a:lstStyle/>
          <a:p>
            <a:r>
              <a:rPr sz="1500" b="0">
                <a:solidFill>
                  <a:srgbClr val="5A5A5A"/>
                </a:solidFill>
                <a:latin typeface="Microsoft YaHei"/>
              </a:rPr>
              <a:t>以蓝白灯带、镜面反射、低雾和音乐形成海口夜间文旅消费场景。</a:t>
            </a:r>
          </a:p>
        </p:txBody>
      </p:sp>
      <p:sp>
        <p:nvSpPr>
          <p:cNvPr id="4" name="TextBox 3"/>
          <p:cNvSpPr txBox="1"/>
          <p:nvPr/>
        </p:nvSpPr>
        <p:spPr>
          <a:xfrm>
            <a:off x="685800" y="1600200"/>
            <a:ext cx="5486400" cy="4389120"/>
          </a:xfrm>
          <a:prstGeom prst="rect">
            <a:avLst/>
          </a:prstGeom>
          <a:noFill/>
        </p:spPr>
        <p:txBody>
          <a:bodyPr wrap="square">
            <a:spAutoFit/>
          </a:bodyPr>
          <a:lstStyle/>
          <a:p>
            <a:pPr>
              <a:defRPr sz="1700">
                <a:solidFill>
                  <a:srgbClr val="323232"/>
                </a:solidFill>
                <a:latin typeface="Microsoft YaHei"/>
              </a:defRPr>
            </a:pPr>
            <a:r>
              <a:t>白天承接游客打卡与公共艺术体验。</a:t>
            </a:r>
          </a:p>
          <a:p>
            <a:pPr>
              <a:defRPr sz="1700">
                <a:solidFill>
                  <a:srgbClr val="323232"/>
                </a:solidFill>
                <a:latin typeface="Microsoft YaHei"/>
              </a:defRPr>
            </a:pPr>
            <a:r>
              <a:t>傍晚转化为潮汐市集和海风音乐会。</a:t>
            </a:r>
          </a:p>
          <a:p>
            <a:pPr>
              <a:defRPr sz="1700">
                <a:solidFill>
                  <a:srgbClr val="323232"/>
                </a:solidFill>
                <a:latin typeface="Microsoft YaHei"/>
              </a:defRPr>
            </a:pPr>
            <a:r>
              <a:t>夜间形成卦象灯光秀、水光咖啡和青年社交场。</a:t>
            </a:r>
          </a:p>
          <a:p>
            <a:pPr>
              <a:defRPr sz="1700">
                <a:solidFill>
                  <a:srgbClr val="323232"/>
                </a:solidFill>
                <a:latin typeface="Microsoft YaHei"/>
              </a:defRPr>
            </a:pPr>
            <a:r>
              <a:t>提高停留时间、消费频次和社交传播。</a:t>
            </a:r>
          </a:p>
        </p:txBody>
      </p:sp>
      <p:sp>
        <p:nvSpPr>
          <p:cNvPr id="5" name="Rectangle 4"/>
          <p:cNvSpPr/>
          <p:nvPr/>
        </p:nvSpPr>
        <p:spPr>
          <a:xfrm>
            <a:off x="6492240" y="1508760"/>
            <a:ext cx="5074920" cy="4480560"/>
          </a:xfrm>
          <a:prstGeom prst="rect">
            <a:avLst/>
          </a:prstGeom>
          <a:solidFill>
            <a:srgbClr val="EBF1F5"/>
          </a:solidFill>
          <a:ln>
            <a:solidFill>
              <a:srgbClr val="A0B4C3"/>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a:solidFill>
                  <a:srgbClr val="505F69"/>
                </a:solidFill>
                <a:latin typeface="Microsoft YaHei"/>
              </a:defRPr>
            </a:pPr>
            <a:r>
              <a:t>画面建议</a:t>
            </a:r>
            <a:br/>
            <a:r>
              <a:t>夜景效果图：蓝白水光、模块化摊位、低雾、天空之山背景</a:t>
            </a:r>
          </a:p>
        </p:txBody>
      </p:sp>
      <p:sp>
        <p:nvSpPr>
          <p:cNvPr id="6" name="TextBox 5"/>
          <p:cNvSpPr txBox="1"/>
          <p:nvPr/>
        </p:nvSpPr>
        <p:spPr>
          <a:xfrm>
            <a:off x="11292840" y="6355080"/>
            <a:ext cx="457200" cy="228600"/>
          </a:xfrm>
          <a:prstGeom prst="rect">
            <a:avLst/>
          </a:prstGeom>
          <a:noFill/>
        </p:spPr>
        <p:txBody>
          <a:bodyPr wrap="none">
            <a:spAutoFit/>
          </a:bodyPr>
          <a:lstStyle/>
          <a:p>
            <a:r>
              <a:rPr sz="1000" b="0">
                <a:solidFill>
                  <a:srgbClr val="8C8C8C"/>
                </a:solidFill>
                <a:latin typeface="Microsoft YaHei"/>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320040"/>
            <a:ext cx="11155680" cy="548640"/>
          </a:xfrm>
          <a:prstGeom prst="rect">
            <a:avLst/>
          </a:prstGeom>
          <a:noFill/>
        </p:spPr>
        <p:txBody>
          <a:bodyPr wrap="none">
            <a:spAutoFit/>
          </a:bodyPr>
          <a:lstStyle/>
          <a:p>
            <a:r>
              <a:rPr sz="2800" b="1">
                <a:solidFill>
                  <a:srgbClr val="193750"/>
                </a:solidFill>
                <a:latin typeface="Microsoft YaHei"/>
              </a:rPr>
              <a:t>效果图生成提示词</a:t>
            </a:r>
          </a:p>
        </p:txBody>
      </p:sp>
      <p:sp>
        <p:nvSpPr>
          <p:cNvPr id="3" name="TextBox 2"/>
          <p:cNvSpPr txBox="1"/>
          <p:nvPr/>
        </p:nvSpPr>
        <p:spPr>
          <a:xfrm>
            <a:off x="594360" y="987552"/>
            <a:ext cx="10972800" cy="384048"/>
          </a:xfrm>
          <a:prstGeom prst="rect">
            <a:avLst/>
          </a:prstGeom>
          <a:noFill/>
        </p:spPr>
        <p:txBody>
          <a:bodyPr wrap="none">
            <a:spAutoFit/>
          </a:bodyPr>
          <a:lstStyle/>
          <a:p>
            <a:r>
              <a:rPr sz="1500" b="0">
                <a:solidFill>
                  <a:srgbClr val="5A5A5A"/>
                </a:solidFill>
                <a:latin typeface="Microsoft YaHei"/>
              </a:rPr>
              <a:t>用于后续生成鸟瞰图、远眺图、人视角图和夜景图。</a:t>
            </a:r>
          </a:p>
        </p:txBody>
      </p:sp>
      <p:sp>
        <p:nvSpPr>
          <p:cNvPr id="4" name="TextBox 3"/>
          <p:cNvSpPr txBox="1"/>
          <p:nvPr/>
        </p:nvSpPr>
        <p:spPr>
          <a:xfrm>
            <a:off x="685800" y="1600200"/>
            <a:ext cx="5486400" cy="4389120"/>
          </a:xfrm>
          <a:prstGeom prst="rect">
            <a:avLst/>
          </a:prstGeom>
          <a:noFill/>
        </p:spPr>
        <p:txBody>
          <a:bodyPr wrap="square">
            <a:spAutoFit/>
          </a:bodyPr>
          <a:lstStyle/>
          <a:p>
            <a:pPr>
              <a:defRPr sz="1700">
                <a:solidFill>
                  <a:srgbClr val="323232"/>
                </a:solidFill>
                <a:latin typeface="Microsoft YaHei"/>
              </a:defRPr>
            </a:pPr>
            <a:r>
              <a:t>海口天空之山驿站旁侧的平地非标商业广场，保留天空之山原有白色流线型建筑作为背景，不改变主体建筑；坎卦主题空间设计，广场地面形成清晰的水纹回环动线，游客路径呈迂回流动形态；中央设置镜...</a:t>
            </a:r>
          </a:p>
          <a:p>
            <a:pPr>
              <a:defRPr sz="1700">
                <a:solidFill>
                  <a:srgbClr val="323232"/>
                </a:solidFill>
                <a:latin typeface="Microsoft YaHei"/>
              </a:defRPr>
            </a:pPr>
            <a:r>
              <a:t>A realistic aerial architectural rendering of a flat non-standard commercial plaza beside ...</a:t>
            </a:r>
          </a:p>
          <a:p>
            <a:pPr>
              <a:defRPr sz="1700">
                <a:solidFill>
                  <a:srgbClr val="323232"/>
                </a:solidFill>
                <a:latin typeface="Microsoft YaHei"/>
              </a:defRPr>
            </a:pPr>
            <a:r>
              <a:t>坡地、山地、台地、大型仿古牌坊、改造天空之山主体建筑、遮挡天空之山、传统庙宇风、玄学算命、预测命运、转运承诺、医疗承诺、杂乱摊贩、低质量渲染、卡通风格。</a:t>
            </a:r>
          </a:p>
        </p:txBody>
      </p:sp>
      <p:sp>
        <p:nvSpPr>
          <p:cNvPr id="5" name="Rectangle 4"/>
          <p:cNvSpPr/>
          <p:nvPr/>
        </p:nvSpPr>
        <p:spPr>
          <a:xfrm>
            <a:off x="6492240" y="1508760"/>
            <a:ext cx="5074920" cy="4480560"/>
          </a:xfrm>
          <a:prstGeom prst="rect">
            <a:avLst/>
          </a:prstGeom>
          <a:solidFill>
            <a:srgbClr val="EBF1F5"/>
          </a:solidFill>
          <a:ln>
            <a:solidFill>
              <a:srgbClr val="A0B4C3"/>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a:solidFill>
                  <a:srgbClr val="505F69"/>
                </a:solidFill>
                <a:latin typeface="Microsoft YaHei"/>
              </a:defRPr>
            </a:pPr>
            <a:r>
              <a:t>画面建议</a:t>
            </a:r>
            <a:br/>
            <a:r>
              <a:t>展示总鸟瞰图提示词；旁边放参考视觉关键词云</a:t>
            </a:r>
          </a:p>
        </p:txBody>
      </p:sp>
      <p:sp>
        <p:nvSpPr>
          <p:cNvPr id="6" name="TextBox 5"/>
          <p:cNvSpPr txBox="1"/>
          <p:nvPr/>
        </p:nvSpPr>
        <p:spPr>
          <a:xfrm>
            <a:off x="11292840" y="6355080"/>
            <a:ext cx="457200" cy="228600"/>
          </a:xfrm>
          <a:prstGeom prst="rect">
            <a:avLst/>
          </a:prstGeom>
          <a:noFill/>
        </p:spPr>
        <p:txBody>
          <a:bodyPr wrap="none">
            <a:spAutoFit/>
          </a:bodyPr>
          <a:lstStyle/>
          <a:p>
            <a:r>
              <a:rPr sz="1000" b="0">
                <a:solidFill>
                  <a:srgbClr val="8C8C8C"/>
                </a:solidFill>
                <a:latin typeface="Microsoft YaHei"/>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320040"/>
            <a:ext cx="11155680" cy="548640"/>
          </a:xfrm>
          <a:prstGeom prst="rect">
            <a:avLst/>
          </a:prstGeom>
          <a:noFill/>
        </p:spPr>
        <p:txBody>
          <a:bodyPr wrap="none">
            <a:spAutoFit/>
          </a:bodyPr>
          <a:lstStyle/>
          <a:p>
            <a:r>
              <a:rPr sz="2800" b="1">
                <a:solidFill>
                  <a:srgbClr val="193750"/>
                </a:solidFill>
                <a:latin typeface="Microsoft YaHei"/>
              </a:rPr>
              <a:t>落地确认与下一步工作</a:t>
            </a:r>
          </a:p>
        </p:txBody>
      </p:sp>
      <p:sp>
        <p:nvSpPr>
          <p:cNvPr id="3" name="TextBox 2"/>
          <p:cNvSpPr txBox="1"/>
          <p:nvPr/>
        </p:nvSpPr>
        <p:spPr>
          <a:xfrm>
            <a:off x="594360" y="987552"/>
            <a:ext cx="10972800" cy="384048"/>
          </a:xfrm>
          <a:prstGeom prst="rect">
            <a:avLst/>
          </a:prstGeom>
          <a:noFill/>
        </p:spPr>
        <p:txBody>
          <a:bodyPr wrap="none">
            <a:spAutoFit/>
          </a:bodyPr>
          <a:lstStyle/>
          <a:p>
            <a:r>
              <a:rPr sz="1500" b="0">
                <a:solidFill>
                  <a:srgbClr val="5A5A5A"/>
                </a:solidFill>
                <a:latin typeface="Microsoft YaHei"/>
              </a:rPr>
              <a:t>方案进入深化设计前，需要确认用地边界、消防通道、水景条件和运营权限。</a:t>
            </a:r>
          </a:p>
        </p:txBody>
      </p:sp>
      <p:sp>
        <p:nvSpPr>
          <p:cNvPr id="4" name="TextBox 3"/>
          <p:cNvSpPr txBox="1"/>
          <p:nvPr/>
        </p:nvSpPr>
        <p:spPr>
          <a:xfrm>
            <a:off x="685800" y="1600200"/>
            <a:ext cx="5486400" cy="4389120"/>
          </a:xfrm>
          <a:prstGeom prst="rect">
            <a:avLst/>
          </a:prstGeom>
          <a:noFill/>
        </p:spPr>
        <p:txBody>
          <a:bodyPr wrap="square">
            <a:spAutoFit/>
          </a:bodyPr>
          <a:lstStyle/>
          <a:p/>
        </p:txBody>
      </p:sp>
      <p:sp>
        <p:nvSpPr>
          <p:cNvPr id="5" name="Rectangle 4"/>
          <p:cNvSpPr/>
          <p:nvPr/>
        </p:nvSpPr>
        <p:spPr>
          <a:xfrm>
            <a:off x="6492240" y="1508760"/>
            <a:ext cx="5074920" cy="4480560"/>
          </a:xfrm>
          <a:prstGeom prst="rect">
            <a:avLst/>
          </a:prstGeom>
          <a:solidFill>
            <a:srgbClr val="EBF1F5"/>
          </a:solidFill>
          <a:ln>
            <a:solidFill>
              <a:srgbClr val="A0B4C3"/>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a:solidFill>
                  <a:srgbClr val="505F69"/>
                </a:solidFill>
                <a:latin typeface="Microsoft YaHei"/>
              </a:defRPr>
            </a:pPr>
            <a:r>
              <a:t>画面建议</a:t>
            </a:r>
            <a:br/>
            <a:r>
              <a:t>工作推进表：场地确认 → 方案深化 → 效果图 → PPT汇报 → 甲方反馈</a:t>
            </a:r>
          </a:p>
        </p:txBody>
      </p:sp>
      <p:sp>
        <p:nvSpPr>
          <p:cNvPr id="6" name="TextBox 5"/>
          <p:cNvSpPr txBox="1"/>
          <p:nvPr/>
        </p:nvSpPr>
        <p:spPr>
          <a:xfrm>
            <a:off x="11292840" y="6355080"/>
            <a:ext cx="457200" cy="228600"/>
          </a:xfrm>
          <a:prstGeom prst="rect">
            <a:avLst/>
          </a:prstGeom>
          <a:noFill/>
        </p:spPr>
        <p:txBody>
          <a:bodyPr wrap="none">
            <a:spAutoFit/>
          </a:bodyPr>
          <a:lstStyle/>
          <a:p>
            <a:r>
              <a:rPr sz="1000" b="0">
                <a:solidFill>
                  <a:srgbClr val="8C8C8C"/>
                </a:solidFill>
                <a:latin typeface="Microsoft YaHei"/>
              </a:rPr>
              <a:t>12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